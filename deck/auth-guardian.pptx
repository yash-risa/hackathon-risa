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4233A"/>
                </a:solidFill>
                <a:latin typeface="Calibri"/>
              </a:rPr>
              <a:t>Lapsed authorizations: 47 → 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Lapsed authorizations</c:v>
                </c:pt>
              </c:strCache>
            </c:strRef>
          </c:tx>
          <c:dPt>
            <c:idx val="0"/>
            <c:spPr>
              <a:solidFill>
                <a:srgbClr val="C0392B"/>
              </a:solidFill>
            </c:spPr>
          </c:dPt>
          <c:dPt>
            <c:idx val="1"/>
            <c:spPr>
              <a:solidFill>
                <a:srgbClr val="0E7490"/>
              </a:solidFill>
            </c:spPr>
          </c:dPt>
          <c:cat>
            <c:strRef>
              <c:f>Sheet1!$A$2:$A$3</c:f>
              <c:strCache>
                <c:ptCount val="2"/>
                <c:pt idx="0">
                  <c:v>Reactive (today)</c:v>
                </c:pt>
                <c:pt idx="1">
                  <c:v>Auth Guardian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>
                  <a:solidFill>
                    <a:srgbClr val="1423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425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79" y="0"/>
            <a:ext cx="4236415" cy="6858000"/>
          </a:xfrm>
          <a:prstGeom prst="rect">
            <a:avLst/>
          </a:prstGeom>
          <a:solidFill>
            <a:srgbClr val="0A4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7D4"/>
                </a:solidFill>
                <a:latin typeface="Calibri"/>
              </a:rPr>
              <a:t>RISA LABS  ·  PROACTIVE PA-CONTINUITY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20240"/>
            <a:ext cx="7315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Calibri"/>
              </a:rPr>
              <a:t>Auth Guardian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6675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DDEAEF"/>
                </a:solidFill>
                <a:latin typeface="Calibri"/>
              </a:rPr>
              <a:t>Keeping oncology authorizations alive — before the therapy gap happens.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0060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9BCC8"/>
                </a:solidFill>
                <a:latin typeface="Calibri"/>
              </a:rPr>
              <a:t>A Risa Labs proactive PA-continuity layer that detects renewal risk early, waits for client approval, then files through Risa’s existing PA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554480"/>
            <a:ext cx="36576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D7DF"/>
                </a:solidFill>
                <a:latin typeface="Calibri"/>
              </a:rPr>
              <a:t>lapses in backtest (down from 47)</a:t>
            </a:r>
          </a:p>
          <a:p>
            <a:pPr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$470K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D7DF"/>
                </a:solidFill>
                <a:latin typeface="Calibri"/>
              </a:rPr>
              <a:t>claim value protected</a:t>
            </a:r>
          </a:p>
          <a:p>
            <a:pPr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2,024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D7DF"/>
                </a:solidFill>
                <a:latin typeface="Calibri"/>
              </a:rPr>
              <a:t>therapy-gap days eliminated</a:t>
            </a:r>
          </a:p>
          <a:p>
            <a:pPr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Zero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D7DF"/>
                </a:solidFill>
                <a:latin typeface="Calibri"/>
              </a:rPr>
              <a:t>new integrations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355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C909C"/>
                </a:solidFill>
                <a:latin typeface="Calibri"/>
              </a:rPr>
              <a:t>Prototype results are 100% synthetic and deterministic. Assumptions labeled throughout.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THE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233A"/>
                </a:solidFill>
                <a:latin typeface="Calibri"/>
              </a:rPr>
              <a:t>Oncology PA isn’t paperwork. It interrupts active cancer therapy.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424160" cy="1270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750" b="1">
                <a:solidFill>
                  <a:srgbClr val="0E7490"/>
                </a:solidFill>
                <a:latin typeface="Calibri"/>
              </a:rPr>
              <a:t>•  </a:t>
            </a:r>
            <a:r>
              <a:rPr sz="1750" b="1">
                <a:solidFill>
                  <a:srgbClr val="14233A"/>
                </a:solidFill>
                <a:latin typeface="Calibri"/>
              </a:rPr>
              <a:t>AMA: </a:t>
            </a:r>
            <a:r>
              <a:rPr sz="1750">
                <a:solidFill>
                  <a:srgbClr val="334255"/>
                </a:solidFill>
                <a:latin typeface="Calibri"/>
              </a:rPr>
              <a:t>39 prior auths per physician per week, about 13 hours of staff time.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750" b="1">
                <a:solidFill>
                  <a:srgbClr val="0E7490"/>
                </a:solidFill>
                <a:latin typeface="Calibri"/>
              </a:rPr>
              <a:t>•  </a:t>
            </a:r>
            <a:r>
              <a:rPr sz="1750" b="1">
                <a:solidFill>
                  <a:srgbClr val="14233A"/>
                </a:solidFill>
                <a:latin typeface="Calibri"/>
              </a:rPr>
              <a:t>ASTRO: </a:t>
            </a:r>
            <a:r>
              <a:rPr sz="1750">
                <a:solidFill>
                  <a:srgbClr val="334255"/>
                </a:solidFill>
                <a:latin typeface="Calibri"/>
              </a:rPr>
              <a:t>92% of radiation oncologists report PA-driven treatment delays.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750" b="1">
                <a:solidFill>
                  <a:srgbClr val="0E7490"/>
                </a:solidFill>
                <a:latin typeface="Calibri"/>
              </a:rPr>
              <a:t>•  </a:t>
            </a:r>
            <a:r>
              <a:rPr sz="1750" b="1">
                <a:solidFill>
                  <a:srgbClr val="14233A"/>
                </a:solidFill>
                <a:latin typeface="Calibri"/>
              </a:rPr>
              <a:t>Delays are getting worse: </a:t>
            </a:r>
            <a:r>
              <a:rPr sz="1750">
                <a:solidFill>
                  <a:srgbClr val="334255"/>
                </a:solidFill>
                <a:latin typeface="Calibri"/>
              </a:rPr>
              <a:t>68% now last 5+ days, up from 52% in 2020.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750" b="1">
                <a:solidFill>
                  <a:srgbClr val="0E7490"/>
                </a:solidFill>
                <a:latin typeface="Calibri"/>
              </a:rPr>
              <a:t>•  </a:t>
            </a:r>
            <a:r>
              <a:rPr sz="1750" b="1">
                <a:solidFill>
                  <a:srgbClr val="14233A"/>
                </a:solidFill>
                <a:latin typeface="Calibri"/>
              </a:rPr>
              <a:t>ASTRO: </a:t>
            </a:r>
            <a:r>
              <a:rPr sz="1750">
                <a:solidFill>
                  <a:srgbClr val="334255"/>
                </a:solidFill>
                <a:latin typeface="Calibri"/>
              </a:rPr>
              <a:t>7% report PA contributed to a patient death.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750" b="1">
                <a:solidFill>
                  <a:srgbClr val="0E7490"/>
                </a:solidFill>
                <a:latin typeface="Calibri"/>
              </a:rPr>
              <a:t>•  </a:t>
            </a:r>
            <a:r>
              <a:rPr sz="1750" b="1">
                <a:solidFill>
                  <a:srgbClr val="14233A"/>
                </a:solidFill>
                <a:latin typeface="Calibri"/>
              </a:rPr>
              <a:t>JCO (oral oncolytics): </a:t>
            </a:r>
            <a:r>
              <a:rPr sz="1750">
                <a:solidFill>
                  <a:srgbClr val="334255"/>
                </a:solidFill>
                <a:latin typeface="Calibri"/>
              </a:rPr>
              <a:t>a new PA on an established drug raised discontinuation odds ~7.1x and added ~9.7 days to the next fill.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40680"/>
            <a:ext cx="5943600" cy="777240"/>
          </a:xfrm>
          <a:prstGeom prst="roundRect">
            <a:avLst>
              <a:gd name="adj" fmla="val 4000"/>
            </a:avLst>
          </a:prstGeom>
          <a:solidFill>
            <a:srgbClr val="E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04688"/>
            <a:ext cx="5486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4D60"/>
                </a:solidFill>
                <a:latin typeface="Calibri"/>
              </a:rPr>
              <a:t>Risa already solves the initial PA. The gap is keeping approvals alive after they’re granted.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828800"/>
            <a:ext cx="4526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60" y="1828800"/>
            <a:ext cx="82296" cy="10515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51192" y="1975104"/>
            <a:ext cx="4160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E7490"/>
                </a:solidFill>
                <a:latin typeface="Calibri"/>
              </a:rPr>
              <a:t>39 / wk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4233A"/>
                </a:solidFill>
                <a:latin typeface="Calibri"/>
              </a:rPr>
              <a:t>PAs per physician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8C"/>
                </a:solidFill>
                <a:latin typeface="Calibri"/>
              </a:rPr>
              <a:t>~13 staff-hours weekly (AMA)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3017520"/>
            <a:ext cx="4526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5160" y="3017520"/>
            <a:ext cx="82296" cy="1051560"/>
          </a:xfrm>
          <a:prstGeom prst="rect">
            <a:avLst/>
          </a:prstGeom>
          <a:solidFill>
            <a:srgbClr val="C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3163824"/>
            <a:ext cx="4160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88A1A"/>
                </a:solidFill>
                <a:latin typeface="Calibri"/>
              </a:rPr>
              <a:t>92%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4233A"/>
                </a:solidFill>
                <a:latin typeface="Calibri"/>
              </a:rPr>
              <a:t>report treatment delays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8C"/>
                </a:solidFill>
                <a:latin typeface="Calibri"/>
              </a:rPr>
              <a:t>average 35% of patients affected (ASTRO)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206240"/>
            <a:ext cx="4526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60" y="4206240"/>
            <a:ext cx="82296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4352544"/>
            <a:ext cx="4160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Calibri"/>
              </a:rPr>
              <a:t>~7.1x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4233A"/>
                </a:solidFill>
                <a:latin typeface="Calibri"/>
              </a:rPr>
              <a:t>discontinuation odds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8C"/>
                </a:solidFill>
                <a:latin typeface="Calibri"/>
              </a:rPr>
              <a:t>new PA on an established oral drug (JCO)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8251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A8C"/>
                </a:solidFill>
                <a:latin typeface="Calibri"/>
              </a:rPr>
              <a:t>Sources: AMA 2024 PA survey · ASTRO 2024 PA survey · JCO 2010–2020 oral anticancer drugs. Full URLs on Sources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CURRENT SOLUTIONS + SHORTCOMINGS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233A"/>
                </a:solidFill>
                <a:latin typeface="Calibri"/>
              </a:rPr>
              <a:t>Everyone detects the work. Nobody executes the renewal.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424160" cy="1270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A4D60"/>
                </a:solidFill>
                <a:latin typeface="Calibri"/>
              </a:rPr>
              <a:t>What practices use today</a:t>
            </a: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 b="0">
                <a:solidFill>
                  <a:srgbClr val="334255"/>
                </a:solidFill>
                <a:latin typeface="Calibri"/>
              </a:rPr>
              <a:t>Manual auth-log spreadsheets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 b="0">
                <a:solidFill>
                  <a:srgbClr val="334255"/>
                </a:solidFill>
                <a:latin typeface="Calibri"/>
              </a:rPr>
              <a:t>PMS / RCM auth-tracking workqueues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 b="0">
                <a:solidFill>
                  <a:srgbClr val="334255"/>
                </a:solidFill>
                <a:latin typeface="Calibri"/>
              </a:rPr>
              <a:t>Eligibility &amp; benefit modules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 b="0">
                <a:solidFill>
                  <a:srgbClr val="334255"/>
                </a:solidFill>
                <a:latin typeface="Calibri"/>
              </a:rPr>
              <a:t>EHR task and reminder queues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 b="0">
                <a:solidFill>
                  <a:srgbClr val="334255"/>
                </a:solidFill>
                <a:latin typeface="Calibri"/>
              </a:rPr>
              <a:t>Payer portals + CoverMyMeds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A4D60"/>
                </a:solidFill>
                <a:latin typeface="Calibri"/>
              </a:rPr>
              <a:t>Adjacent vendors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334255"/>
                </a:solidFill>
                <a:latin typeface="Calibri"/>
              </a:rPr>
              <a:t>Cohere · Rhyme · Myndshft · Waystar · Availity · Infinitus · Develop Health · Tennr · Co:Helm · Anterior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6B7A8C"/>
                </a:solidFill>
                <a:latin typeface="Calibri"/>
              </a:rPr>
              <a:t>They reduce friction in pieces of the workflow. None sit inside Risa’s oncology PA loop with the EMR, approval record, form logic, and submission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1856231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7A8C"/>
                </a:solidFill>
                <a:latin typeface="Calibri"/>
              </a:rPr>
              <a:t>Detection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856231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4D60"/>
                </a:solidFill>
                <a:latin typeface="Calibri"/>
              </a:rPr>
              <a:t>Autonomous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185415"/>
            <a:ext cx="1188720" cy="18516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A8C"/>
                </a:solidFill>
                <a:latin typeface="Calibri"/>
              </a:rPr>
              <a:t>Generic / cross-specialty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037075"/>
            <a:ext cx="1188720" cy="18516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A8C"/>
                </a:solidFill>
                <a:latin typeface="Calibri"/>
              </a:rPr>
              <a:t>EMR-native oncology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74536" y="2221991"/>
            <a:ext cx="2395728" cy="1778508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295143"/>
            <a:ext cx="2139696" cy="1595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C"/>
                </a:solidFill>
                <a:latin typeface="Calibri"/>
              </a:rPr>
              <a:t>Spreadsheets, EHR reminders,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8C"/>
                </a:solidFill>
                <a:latin typeface="Calibri"/>
              </a:rPr>
              <a:t>payer portals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3416" y="2221991"/>
            <a:ext cx="2395728" cy="1778508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295143"/>
            <a:ext cx="2139696" cy="1595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C"/>
                </a:solidFill>
                <a:latin typeface="Calibri"/>
              </a:rPr>
              <a:t>Generic PA / RCM automation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8C"/>
                </a:solidFill>
                <a:latin typeface="Calibri"/>
              </a:rPr>
              <a:t>(Cohere, Waystar, Availity…)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74536" y="4073651"/>
            <a:ext cx="2395728" cy="1778508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146803"/>
            <a:ext cx="2139696" cy="1595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C"/>
                </a:solidFill>
                <a:latin typeface="Calibri"/>
              </a:rPr>
              <a:t>Practice auth-log + manual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8C"/>
                </a:solidFill>
                <a:latin typeface="Calibri"/>
              </a:rPr>
              <a:t>staff follow-up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3416" y="4073651"/>
            <a:ext cx="2395728" cy="1778508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 w="25400">
            <a:solidFill>
              <a:srgbClr val="0A4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4146803"/>
            <a:ext cx="2139696" cy="1595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Auth Guardian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DF0F4"/>
                </a:solidFill>
                <a:latin typeface="Calibri"/>
              </a:rPr>
              <a:t>EMR-native + client-approved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907023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B7A8C"/>
                </a:solidFill>
                <a:latin typeface="Calibri"/>
              </a:rPr>
              <a:t>The empty quadrant is the wedge. Practices already have reminders — yet 5+ day oncology delays rose 52% → 68%. The bottleneck is execution, not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MARKET SIZE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233A"/>
                </a:solidFill>
                <a:latin typeface="Calibri"/>
              </a:rPr>
              <a:t>Sized on monthly trigger cases per practice.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424160" cy="1270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4846320" cy="1874519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44348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A4D60"/>
                </a:solidFill>
                <a:latin typeface="Calibri"/>
              </a:rPr>
              <a:t>BASE CASE · ONE PRACTICE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</a:rPr>
              <a:t>750 active oral-oncolytic PA patients  ×  12% monthly trigger  ×  93% actionable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E7490"/>
                </a:solidFill>
                <a:latin typeface="Calibri"/>
              </a:rPr>
              <a:t>≈ 84 trigger cases / month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33A"/>
                </a:solidFill>
                <a:latin typeface="Calibri"/>
              </a:rPr>
              <a:t>≈ $280K/month protected  ·  70 staff-hours/month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4846320" cy="1783080"/>
          </a:xfrm>
          <a:prstGeom prst="roundRect">
            <a:avLst>
              <a:gd name="adj" fmla="val 4000"/>
            </a:avLst>
          </a:prstGeom>
          <a:solidFill>
            <a:srgbClr val="E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13632"/>
            <a:ext cx="4434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A4D60"/>
                </a:solidFill>
                <a:latin typeface="Calibri"/>
              </a:rPr>
              <a:t>RISA BOOK · NYCBS + ASTERA (placeholder)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255"/>
                </a:solidFill>
                <a:latin typeface="Calibri"/>
              </a:rPr>
              <a:t>1,950 combined patients × 12% × 93%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A4D60"/>
                </a:solidFill>
                <a:latin typeface="Calibri"/>
              </a:rPr>
              <a:t>≈ 218 triggers/mo  ·  $730K/mo protected  ·  $8.8M/yr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73736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4D60"/>
                </a:solidFill>
                <a:latin typeface="Calibri"/>
              </a:rPr>
              <a:t>Sensitivity · per-practice monthly opportunity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06440" y="2148840"/>
          <a:ext cx="62636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914400"/>
                <a:gridCol w="1005840"/>
                <a:gridCol w="868680"/>
                <a:gridCol w="1325880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4864" marR="54864" marT="18288" marB="18288" anchor="ctr">
                    <a:solidFill>
                      <a:srgbClr val="0A4D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Patients</a:t>
                      </a:r>
                    </a:p>
                  </a:txBody>
                  <a:tcPr marL="54864" marR="54864" marT="18288" marB="18288" anchor="ctr">
                    <a:solidFill>
                      <a:srgbClr val="0A4D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Trigger rate</a:t>
                      </a:r>
                    </a:p>
                  </a:txBody>
                  <a:tcPr marL="54864" marR="54864" marT="18288" marB="18288" anchor="ctr">
                    <a:solidFill>
                      <a:srgbClr val="0A4D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Cases/mo</a:t>
                      </a:r>
                    </a:p>
                  </a:txBody>
                  <a:tcPr marL="54864" marR="54864" marT="18288" marB="18288" anchor="ctr">
                    <a:solidFill>
                      <a:srgbClr val="0A4D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Lapses prevented</a:t>
                      </a:r>
                    </a:p>
                  </a:txBody>
                  <a:tcPr marL="54864" marR="54864" marT="18288" marB="18288" anchor="ctr">
                    <a:solidFill>
                      <a:srgbClr val="0A4D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Protected/mo</a:t>
                      </a:r>
                    </a:p>
                  </a:txBody>
                  <a:tcPr marL="54864" marR="54864" marT="18288" marB="18288" anchor="ctr">
                    <a:solidFill>
                      <a:srgbClr val="0A4D6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4255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255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255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255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25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255"/>
                          </a:solidFill>
                          <a:latin typeface="Calibri"/>
                        </a:rPr>
                        <a:t>$100K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A4D60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54864" marR="54864" marT="18288" marB="18288" anchor="ctr">
                    <a:solidFill>
                      <a:srgbClr val="E2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A4D60"/>
                          </a:solidFill>
                          <a:latin typeface="Calibri"/>
                        </a:rPr>
                        <a:t>750</a:t>
                      </a:r>
                    </a:p>
                  </a:txBody>
                  <a:tcPr marL="54864" marR="54864" marT="18288" marB="18288" anchor="ctr">
                    <a:solidFill>
                      <a:srgbClr val="E2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A4D6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54864" marR="54864" marT="18288" marB="18288" anchor="ctr">
                    <a:solidFill>
                      <a:srgbClr val="E2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A4D60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54864" marR="54864" marT="18288" marB="18288" anchor="ctr">
                    <a:solidFill>
                      <a:srgbClr val="E2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A4D6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E2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A4D60"/>
                          </a:solidFill>
                          <a:latin typeface="Calibri"/>
                        </a:rPr>
                        <a:t>$280K</a:t>
                      </a:r>
                    </a:p>
                  </a:txBody>
                  <a:tcPr marL="54864" marR="54864" marT="18288" marB="18288" anchor="ctr">
                    <a:solidFill>
                      <a:srgbClr val="E2F1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42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255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255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255"/>
                          </a:solidFill>
                          <a:latin typeface="Calibri"/>
                        </a:rPr>
                        <a:t>179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255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4255"/>
                          </a:solidFill>
                          <a:latin typeface="Calibri"/>
                        </a:rPr>
                        <a:t>$600K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806440" y="4069080"/>
            <a:ext cx="5715000" cy="146304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187952"/>
            <a:ext cx="53035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A4D60"/>
                </a:solidFill>
                <a:latin typeface="Calibri"/>
              </a:rPr>
              <a:t>US TAM PROXY (modest, labeled assumptions)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255"/>
                </a:solidFill>
                <a:latin typeface="Calibri"/>
              </a:rPr>
              <a:t>1,000 practices × 84 cases/mo × $100 per completed case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E7490"/>
                </a:solidFill>
                <a:latin typeface="Calibri"/>
              </a:rPr>
              <a:t>≈ $101M / year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B7A8C"/>
                </a:solidFill>
                <a:latin typeface="Calibri"/>
              </a:rPr>
              <a:t>Revenue proxy is a sizing bridge, not a price. Range $50M–$151M across 500–1,500 practices.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8251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A8C"/>
                </a:solidFill>
                <a:latin typeface="Calibri"/>
              </a:rPr>
              <a:t>All figures rest on labeled assumptions: $10K avg claim, 33.6% reactive lapse rate, 2.5 hrs/lapse. NYCBS+Astera patient counts are placeholders.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WHY RISA WINS  +  WHY NOW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233A"/>
                </a:solidFill>
                <a:latin typeface="Calibri"/>
              </a:rPr>
              <a:t>Risa already owns the execution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424160" cy="1270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4D60"/>
                </a:solidFill>
                <a:latin typeface="Calibri"/>
              </a:rPr>
              <a:t>Why Risa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852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0E7490"/>
                </a:solidFill>
                <a:latin typeface="Calibri"/>
              </a:rPr>
              <a:t>•  </a:t>
            </a:r>
            <a:r>
              <a:rPr sz="1550" b="1">
                <a:solidFill>
                  <a:srgbClr val="14233A"/>
                </a:solidFill>
                <a:latin typeface="Calibri"/>
              </a:rPr>
              <a:t>Already inside the loop: </a:t>
            </a:r>
            <a:r>
              <a:rPr sz="1550">
                <a:solidFill>
                  <a:srgbClr val="334255"/>
                </a:solidFill>
                <a:latin typeface="Calibri"/>
              </a:rPr>
              <a:t>EMR data + PA records + CoverMyMeds + payer Q&amp;A + write-back.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0E7490"/>
                </a:solidFill>
                <a:latin typeface="Calibri"/>
              </a:rPr>
              <a:t>•  </a:t>
            </a:r>
            <a:r>
              <a:rPr sz="1550" b="1">
                <a:solidFill>
                  <a:srgbClr val="14233A"/>
                </a:solidFill>
                <a:latin typeface="Calibri"/>
              </a:rPr>
              <a:t>Zero new integration: </a:t>
            </a:r>
            <a:r>
              <a:rPr sz="1550">
                <a:solidFill>
                  <a:srgbClr val="334255"/>
                </a:solidFill>
                <a:latin typeface="Calibri"/>
              </a:rPr>
              <a:t>Auth Guardian adds trigger logic and an approval gate, not a new system.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0E7490"/>
                </a:solidFill>
                <a:latin typeface="Calibri"/>
              </a:rPr>
              <a:t>•  </a:t>
            </a:r>
            <a:r>
              <a:rPr sz="1550" b="1">
                <a:solidFill>
                  <a:srgbClr val="14233A"/>
                </a:solidFill>
                <a:latin typeface="Calibri"/>
              </a:rPr>
              <a:t>Execution wedge: </a:t>
            </a:r>
            <a:r>
              <a:rPr sz="1550">
                <a:solidFill>
                  <a:srgbClr val="334255"/>
                </a:solidFill>
                <a:latin typeface="Calibri"/>
              </a:rPr>
              <a:t>others flag work; Risa files the renewal through its existing engine.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0E7490"/>
                </a:solidFill>
                <a:latin typeface="Calibri"/>
              </a:rPr>
              <a:t>•  </a:t>
            </a:r>
            <a:r>
              <a:rPr sz="1550" b="1">
                <a:solidFill>
                  <a:srgbClr val="14233A"/>
                </a:solidFill>
                <a:latin typeface="Calibri"/>
              </a:rPr>
              <a:t>Additive revenue: </a:t>
            </a:r>
            <a:r>
              <a:rPr sz="1550">
                <a:solidFill>
                  <a:srgbClr val="334255"/>
                </a:solidFill>
                <a:latin typeface="Calibri"/>
              </a:rPr>
              <a:t>a new recurring workflow that doesn’t cannibalize initial PA automation.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0E7490"/>
                </a:solidFill>
                <a:latin typeface="Calibri"/>
              </a:rPr>
              <a:t>•  </a:t>
            </a:r>
            <a:r>
              <a:rPr sz="1550" b="1">
                <a:solidFill>
                  <a:srgbClr val="14233A"/>
                </a:solidFill>
                <a:latin typeface="Calibri"/>
              </a:rPr>
              <a:t>Fast to ship: </a:t>
            </a:r>
            <a:r>
              <a:rPr sz="1550">
                <a:solidFill>
                  <a:srgbClr val="334255"/>
                </a:solidFill>
                <a:latin typeface="Calibri"/>
              </a:rPr>
              <a:t>auth-expiry first, then coverage-expiry, then regimen-change.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828800"/>
            <a:ext cx="4800600" cy="4114800"/>
          </a:xfrm>
          <a:prstGeom prst="roundRect">
            <a:avLst>
              <a:gd name="adj" fmla="val 4000"/>
            </a:avLst>
          </a:prstGeom>
          <a:solidFill>
            <a:srgbClr val="E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2011680"/>
            <a:ext cx="42976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0A4D60"/>
                </a:solidFill>
                <a:latin typeface="Calibri"/>
              </a:rPr>
              <a:t>WHY NOW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4233A"/>
                </a:solidFill>
                <a:latin typeface="Calibri"/>
              </a:rPr>
              <a:t>CMS Interoperability &amp; Prior Authorization Final Rule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</a:rPr>
              <a:t>CMS-0057-F, phased through 2026–2027. Impacted payers must support PA APIs and faster decisions — 72 hours urgent, 7 days standard.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14233A"/>
                </a:solidFill>
                <a:latin typeface="Calibri"/>
              </a:rPr>
              <a:t>State gold-card laws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</a:rPr>
              <a:t>Texas HB 3459 and the federal GOLD CARD Act push the same direction.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1">
                <a:solidFill>
                  <a:srgbClr val="0A4D60"/>
                </a:solidFill>
                <a:latin typeface="Calibri"/>
              </a:rPr>
              <a:t>Payer PA is modernizing — but practices still need provider-side systems that catch renewal risk early and execute before the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THE SOLUTION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233A"/>
                </a:solidFill>
                <a:latin typeface="Calibri"/>
              </a:rPr>
              <a:t>Detect early. Hold for approval. File through the engine that already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424160" cy="1270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4D60"/>
                </a:solidFill>
                <a:latin typeface="Calibri"/>
              </a:rPr>
              <a:t>Three triggers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2120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109728" cy="6035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4846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4233A"/>
                </a:solidFill>
                <a:latin typeface="Calibri"/>
              </a:rPr>
              <a:t>Auth-expiry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A8C"/>
                </a:solidFill>
                <a:latin typeface="Calibri"/>
              </a:rPr>
              <a:t>from Risa’s own PA approval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16352"/>
            <a:ext cx="52120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16352"/>
            <a:ext cx="109728" cy="603504"/>
          </a:xfrm>
          <a:prstGeom prst="rect">
            <a:avLst/>
          </a:prstGeom>
          <a:solidFill>
            <a:srgbClr val="C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52928"/>
            <a:ext cx="4846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4233A"/>
                </a:solidFill>
                <a:latin typeface="Calibri"/>
              </a:rPr>
              <a:t>Insurance-expiry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A8C"/>
                </a:solidFill>
                <a:latin typeface="Calibri"/>
              </a:rPr>
              <a:t>read from the EMR — not stored today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9584"/>
            <a:ext cx="52120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29584"/>
            <a:ext cx="109728" cy="603504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48463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4233A"/>
                </a:solidFill>
                <a:latin typeface="Calibri"/>
              </a:rPr>
              <a:t>Regimen-change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A8C"/>
                </a:solidFill>
                <a:latin typeface="Calibri"/>
              </a:rPr>
              <a:t>monthly EMR re-check, lower priority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26280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E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90288"/>
            <a:ext cx="4800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A4D60"/>
                </a:solidFill>
                <a:latin typeface="Calibri"/>
              </a:rPr>
              <a:t>CLIENT APPROVAL GATE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255"/>
                </a:solidFill>
                <a:latin typeface="Calibri"/>
              </a:rPr>
              <a:t>Nothing auto-files. Suppression holds stopped, transferred, or progressed cases for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5212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4233A"/>
                </a:solidFill>
                <a:latin typeface="Calibri"/>
              </a:rPr>
              <a:t>Maria Alvarez · Ibrance, Humana MA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8C"/>
                </a:solidFill>
                <a:latin typeface="Calibri"/>
              </a:rPr>
              <a:t>Reactive: refiled at next visit → 36-day gap + denial. Auth Guardian: fires 45 days early, client approves, filed on time → zero gap.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373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4D60"/>
                </a:solidFill>
                <a:latin typeface="Calibri"/>
              </a:rPr>
              <a:t>How it 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103120"/>
            <a:ext cx="52120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103120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233A"/>
                </a:solidFill>
                <a:latin typeface="Calibri"/>
              </a:rPr>
              <a:t>Approve PA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787384" y="2578608"/>
            <a:ext cx="164592" cy="123444"/>
          </a:xfrm>
          <a:prstGeom prst="downArrow">
            <a:avLst/>
          </a:prstGeom>
          <a:solidFill>
            <a:srgbClr val="B6C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2702052"/>
            <a:ext cx="52120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702052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233A"/>
                </a:solidFill>
                <a:latin typeface="Calibri"/>
              </a:rPr>
              <a:t>Store trigger dates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787384" y="3177540"/>
            <a:ext cx="164592" cy="123444"/>
          </a:xfrm>
          <a:prstGeom prst="downArrow">
            <a:avLst/>
          </a:prstGeom>
          <a:solidFill>
            <a:srgbClr val="B6C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3300984"/>
            <a:ext cx="52120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300984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233A"/>
                </a:solidFill>
                <a:latin typeface="Calibri"/>
              </a:rPr>
              <a:t>Daily date-watcher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787384" y="3776472"/>
            <a:ext cx="164592" cy="123444"/>
          </a:xfrm>
          <a:prstGeom prst="downArrow">
            <a:avLst/>
          </a:prstGeom>
          <a:solidFill>
            <a:srgbClr val="B6C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3899916"/>
            <a:ext cx="52120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899916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233A"/>
                </a:solidFill>
                <a:latin typeface="Calibri"/>
              </a:rPr>
              <a:t>Worklist highlights case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787384" y="4375404"/>
            <a:ext cx="164592" cy="123444"/>
          </a:xfrm>
          <a:prstGeom prst="downArrow">
            <a:avLst/>
          </a:prstGeom>
          <a:solidFill>
            <a:srgbClr val="B6C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3640" y="4498848"/>
            <a:ext cx="5212080" cy="475488"/>
          </a:xfrm>
          <a:prstGeom prst="roundRect">
            <a:avLst>
              <a:gd name="adj" fmla="val 18000"/>
            </a:avLst>
          </a:prstGeom>
          <a:solidFill>
            <a:srgbClr val="0E7490"/>
          </a:solidFill>
          <a:ln w="22225">
            <a:solidFill>
              <a:srgbClr val="0A4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498848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✓  Client approval gate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787384" y="4974336"/>
            <a:ext cx="164592" cy="123444"/>
          </a:xfrm>
          <a:prstGeom prst="downArrow">
            <a:avLst/>
          </a:prstGeom>
          <a:solidFill>
            <a:srgbClr val="B6C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63640" y="5097780"/>
            <a:ext cx="52120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097780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4233A"/>
                </a:solidFill>
                <a:latin typeface="Calibri"/>
              </a:rPr>
              <a:t>Risa engine files renewal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8787384" y="5573268"/>
            <a:ext cx="164592" cy="123444"/>
          </a:xfrm>
          <a:prstGeom prst="downArrow">
            <a:avLst/>
          </a:prstGeom>
          <a:solidFill>
            <a:srgbClr val="B6C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63640" y="5696712"/>
            <a:ext cx="5212080" cy="475488"/>
          </a:xfrm>
          <a:prstGeom prst="roundRect">
            <a:avLst>
              <a:gd name="adj" fmla="val 18000"/>
            </a:avLst>
          </a:prstGeom>
          <a:solidFill>
            <a:srgbClr val="0A4D60"/>
          </a:solidFill>
          <a:ln w="22225">
            <a:solidFill>
              <a:srgbClr val="0A4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696712"/>
            <a:ext cx="4754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✓  EMR write-back + audit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IMPACT · THE BACKTEST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233A"/>
                </a:solidFill>
                <a:latin typeface="Calibri"/>
              </a:rPr>
              <a:t>Reactive vs Auth Guardian on the same 150-case cohort.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424160" cy="1270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61518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82296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9384"/>
            <a:ext cx="22494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Calibri"/>
              </a:rPr>
              <a:t>47 →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4233A"/>
                </a:solidFill>
                <a:latin typeface="Calibri"/>
              </a:rPr>
              <a:t>Lapsed authorizations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8C"/>
                </a:solidFill>
                <a:latin typeface="Calibri"/>
              </a:rPr>
              <a:t>33.6% → 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1783080"/>
            <a:ext cx="261518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783080"/>
            <a:ext cx="82296" cy="1143000"/>
          </a:xfrm>
          <a:prstGeom prst="rect">
            <a:avLst/>
          </a:prstGeom>
          <a:solidFill>
            <a:srgbClr val="C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929384"/>
            <a:ext cx="22494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88A1A"/>
                </a:solidFill>
                <a:latin typeface="Calibri"/>
              </a:rPr>
              <a:t>2,024 →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4233A"/>
                </a:solidFill>
                <a:latin typeface="Calibri"/>
              </a:rPr>
              <a:t>Therapy-gap days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8C"/>
                </a:solidFill>
                <a:latin typeface="Calibri"/>
              </a:rPr>
              <a:t>eliminated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1783080"/>
            <a:ext cx="261518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08192" y="1783080"/>
            <a:ext cx="82296" cy="1143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929384"/>
            <a:ext cx="22494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E7490"/>
                </a:solidFill>
                <a:latin typeface="Calibri"/>
              </a:rPr>
              <a:t>$470K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4233A"/>
                </a:solidFill>
                <a:latin typeface="Calibri"/>
              </a:rPr>
              <a:t>Claim value protected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8C"/>
                </a:solidFill>
                <a:latin typeface="Calibri"/>
              </a:rPr>
              <a:t>@ $10K/claim (assumption)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2248" y="1783080"/>
            <a:ext cx="261518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2248" y="1783080"/>
            <a:ext cx="82296" cy="1143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929384"/>
            <a:ext cx="22494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8E5A"/>
                </a:solidFill>
                <a:latin typeface="Calibri"/>
              </a:rPr>
              <a:t>118 hrs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4233A"/>
                </a:solidFill>
                <a:latin typeface="Calibri"/>
              </a:rPr>
              <a:t>Staff scramble saved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8C"/>
                </a:solidFill>
                <a:latin typeface="Calibri"/>
              </a:rPr>
              <a:t>@ 2.5 hrs/lapse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3246120"/>
          <a:ext cx="512064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989320" y="3246120"/>
            <a:ext cx="5532120" cy="274320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401568"/>
            <a:ext cx="5029200" cy="2468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0A4D60"/>
                </a:solidFill>
                <a:latin typeface="Calibri"/>
              </a:rPr>
              <a:t>WHAT THE PROTOTYPE PROVES</a:t>
            </a:r>
            <a:r>
              <a:rPr sz="1300" b="1">
                <a:solidFill>
                  <a:srgbClr val="0E7490"/>
                </a:solidFill>
                <a:latin typeface="Calibri"/>
              </a:rPr>
              <a:t>•  </a:t>
            </a:r>
            <a:r>
              <a:rPr sz="1300" b="1">
                <a:solidFill>
                  <a:srgbClr val="14233A"/>
                </a:solidFill>
                <a:latin typeface="Calibri"/>
              </a:rPr>
              <a:t>47 no-auth denials </a:t>
            </a:r>
            <a:r>
              <a:rPr sz="1300">
                <a:solidFill>
                  <a:srgbClr val="334255"/>
                </a:solidFill>
                <a:latin typeface="Calibri"/>
              </a:rPr>
              <a:t>avoided (now 0).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E7490"/>
                </a:solidFill>
                <a:latin typeface="Calibri"/>
              </a:rPr>
              <a:t>•  </a:t>
            </a:r>
            <a:r>
              <a:rPr sz="1300" b="1">
                <a:solidFill>
                  <a:srgbClr val="14233A"/>
                </a:solidFill>
                <a:latin typeface="Calibri"/>
              </a:rPr>
              <a:t>10 / 10 suppression triage </a:t>
            </a:r>
            <a:r>
              <a:rPr sz="1300">
                <a:solidFill>
                  <a:srgbClr val="334255"/>
                </a:solidFill>
                <a:latin typeface="Calibri"/>
              </a:rPr>
              <a:t>— stopped/transferred/progressed cases held for review.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E7490"/>
                </a:solidFill>
                <a:latin typeface="Calibri"/>
              </a:rPr>
              <a:t>•  </a:t>
            </a:r>
            <a:r>
              <a:rPr sz="1300" b="1">
                <a:solidFill>
                  <a:srgbClr val="14233A"/>
                </a:solidFill>
                <a:latin typeface="Calibri"/>
              </a:rPr>
              <a:t>140 client-approval touches </a:t>
            </a:r>
            <a:r>
              <a:rPr sz="1300">
                <a:solidFill>
                  <a:srgbClr val="334255"/>
                </a:solidFill>
                <a:latin typeface="Calibri"/>
              </a:rPr>
              <a:t>— nothing auto-files.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E7490"/>
                </a:solidFill>
                <a:latin typeface="Calibri"/>
              </a:rPr>
              <a:t>•  </a:t>
            </a:r>
            <a:r>
              <a:rPr sz="1300" b="1">
                <a:solidFill>
                  <a:srgbClr val="14233A"/>
                </a:solidFill>
                <a:latin typeface="Calibri"/>
              </a:rPr>
              <a:t>Synthetic, deterministic prototype: </a:t>
            </a:r>
            <a:r>
              <a:rPr sz="1300">
                <a:solidFill>
                  <a:srgbClr val="334255"/>
                </a:solidFill>
                <a:latin typeface="Calibri"/>
              </a:rPr>
              <a:t>numbers prove the mechanism, not a market forecast.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8251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B7A8C"/>
                </a:solidFill>
                <a:latin typeface="Calibri"/>
              </a:rPr>
              <a:t>Prototype data is 100% synthetic and deterministic (seed 20260621). Dollar and hour figures use labeled assumptions: $10K/claim, 2.5 hrs/lapse.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VISION · WHAT’S NEXT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233A"/>
                </a:solidFill>
                <a:latin typeface="Calibri"/>
              </a:rPr>
              <a:t>From continuity layer to revenue-integrity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C"/>
                </a:solidFill>
                <a:latin typeface="Calibr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27648"/>
            <a:ext cx="10424160" cy="1270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7665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1800" b="1">
                <a:solidFill>
                  <a:srgbClr val="0E7490"/>
                </a:solidFill>
                <a:latin typeface="Calibri"/>
              </a:rPr>
              <a:t>•  </a:t>
            </a:r>
            <a:r>
              <a:rPr sz="1800" b="1">
                <a:solidFill>
                  <a:srgbClr val="14233A"/>
                </a:solidFill>
                <a:latin typeface="Calibri"/>
              </a:rPr>
              <a:t>Approval is not payment. </a:t>
            </a:r>
            <a:r>
              <a:rPr sz="1800">
                <a:solidFill>
                  <a:srgbClr val="334255"/>
                </a:solidFill>
                <a:latin typeface="Calibri"/>
              </a:rPr>
              <a:t>The same proactive engine extends to claim reconciliation.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1800" b="1">
                <a:solidFill>
                  <a:srgbClr val="0E7490"/>
                </a:solidFill>
                <a:latin typeface="Calibri"/>
              </a:rPr>
              <a:t>•  </a:t>
            </a:r>
            <a:r>
              <a:rPr sz="1800" b="1">
                <a:solidFill>
                  <a:srgbClr val="14233A"/>
                </a:solidFill>
                <a:latin typeface="Calibri"/>
              </a:rPr>
              <a:t>Add a PMS feed </a:t>
            </a:r>
            <a:r>
              <a:rPr sz="1800">
                <a:solidFill>
                  <a:srgbClr val="334255"/>
                </a:solidFill>
                <a:latin typeface="Calibri"/>
              </a:rPr>
              <a:t>and Auth Guardian watches paid vs denied, not just approved vs lapsed.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1800" b="1">
                <a:solidFill>
                  <a:srgbClr val="0E7490"/>
                </a:solidFill>
                <a:latin typeface="Calibri"/>
              </a:rPr>
              <a:t>•  </a:t>
            </a:r>
            <a:r>
              <a:rPr sz="1800" b="1">
                <a:solidFill>
                  <a:srgbClr val="14233A"/>
                </a:solidFill>
                <a:latin typeface="Calibri"/>
              </a:rPr>
              <a:t>Continuity layer → revenue-integrity layer </a:t>
            </a:r>
            <a:r>
              <a:rPr sz="1800">
                <a:solidFill>
                  <a:srgbClr val="334255"/>
                </a:solidFill>
                <a:latin typeface="Calibri"/>
              </a:rPr>
              <a:t>across the full post-approval lifecycle.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1800" b="1">
                <a:solidFill>
                  <a:srgbClr val="0E7490"/>
                </a:solidFill>
                <a:latin typeface="Calibri"/>
              </a:rPr>
              <a:t>•  </a:t>
            </a:r>
            <a:r>
              <a:rPr sz="1800" b="1">
                <a:solidFill>
                  <a:srgbClr val="14233A"/>
                </a:solidFill>
                <a:latin typeface="Calibri"/>
              </a:rPr>
              <a:t>Same wedge: </a:t>
            </a:r>
            <a:r>
              <a:rPr sz="1800">
                <a:solidFill>
                  <a:srgbClr val="334255"/>
                </a:solidFill>
                <a:latin typeface="Calibri"/>
              </a:rPr>
              <a:t>detect early, hold for client approval, then execute through Risa’s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6576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6B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828800"/>
            <a:ext cx="118872" cy="841248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901952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B7A8C"/>
                </a:solidFill>
                <a:latin typeface="Calibri"/>
              </a:rPr>
              <a:t>Today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255"/>
                </a:solidFill>
                <a:latin typeface="Calibri"/>
              </a:rPr>
              <a:t>Initial PA automation (BOSS)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610344" y="2679192"/>
            <a:ext cx="164592" cy="219456"/>
          </a:xfrm>
          <a:prstGeom prst="downArrow">
            <a:avLst/>
          </a:prstGeom>
          <a:solidFill>
            <a:srgbClr val="B6C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0" y="2907792"/>
            <a:ext cx="36576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2907792"/>
            <a:ext cx="118872" cy="8412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980944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Auth Guardian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255"/>
                </a:solidFill>
                <a:latin typeface="Calibri"/>
              </a:rPr>
              <a:t>Proactive renewal continuity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610344" y="3758184"/>
            <a:ext cx="164592" cy="219456"/>
          </a:xfrm>
          <a:prstGeom prst="downArrow">
            <a:avLst/>
          </a:prstGeom>
          <a:solidFill>
            <a:srgbClr val="B6C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0" y="3986784"/>
            <a:ext cx="36576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A4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3986784"/>
            <a:ext cx="118872" cy="841248"/>
          </a:xfrm>
          <a:prstGeom prst="rect">
            <a:avLst/>
          </a:prstGeom>
          <a:solidFill>
            <a:srgbClr val="0A4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059936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A4D60"/>
                </a:solidFill>
                <a:latin typeface="Calibri"/>
              </a:rPr>
              <a:t>Next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255"/>
                </a:solidFill>
                <a:latin typeface="Calibri"/>
              </a:rPr>
              <a:t>Claim reconciliation on PMS feed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610344" y="4837176"/>
            <a:ext cx="164592" cy="219456"/>
          </a:xfrm>
          <a:prstGeom prst="downArrow">
            <a:avLst/>
          </a:prstGeom>
          <a:solidFill>
            <a:srgbClr val="B6C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63840" y="5065776"/>
            <a:ext cx="36576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5065776"/>
            <a:ext cx="118872" cy="841248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5138928"/>
            <a:ext cx="3200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4233A"/>
                </a:solidFill>
                <a:latin typeface="Calibri"/>
              </a:rPr>
              <a:t>Vision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255"/>
                </a:solidFill>
                <a:latin typeface="Calibri"/>
              </a:rPr>
              <a:t>Revenue-integrity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SOURCES &amp; METHODOLOGY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4233A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1. AMA — Fixing prior auth: nearly 40 prior authorizations a week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B7A8C"/>
                </a:solidFill>
                <a:latin typeface="Calibri"/>
              </a:rPr>
              <a:t>   ama-assn.org/practice-management/prior-authorization/fixing-prior-auth-nearly-40-prior-authorizations-week-way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2. AMA — Prior Authorization Reform Progress Update (PDF)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3. ASTRO — Prior Authorization Survey 2024 Executive Summary (PDF)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4. AJMC — Prior Authorization Delays Cause Serious Harm to Patients With Cancer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5. The ASCO Post — Prior Authorization Delays May Lead to Severe Consequences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6. PubMed/JCO — Association of Prior Authorization and Price With Access to Oral Anticancer Drugs (38086013)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7. Go-Flow — Prior Authorization Denial Reasons: 2026 Data + Fixes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8. The SORSO — Why Are Claims Denied?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9. Nirmitee — Healthcare Denial Root Cause Analysis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10. Klivira — Oncology Infusion Prior Authorization Playbook: Regimen to Re-Auth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11. PharmaDossier — Renewal Denial: Stable Disease, Continued Therapy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12. CMS — Interoperability and Prior Authorization Final Rule (CMS-0057-F)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13. Texas Dept. of Insurance — Gold Carding Prior Authorization Exemptions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334255"/>
                </a:solidFill>
                <a:latin typeface="Calibri"/>
              </a:rPr>
              <a:t>14. AMA — Gold Card 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788152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B7A8C"/>
                </a:solidFill>
                <a:latin typeface="Calibri"/>
              </a:rPr>
              <a:t>Prototype data is 100% synthetic and deterministic (mulberry32 seed 20260621, watcher date 2026-06-21). All dollar, hour, patient-count, and TAM figures use clearly labeled assumptions.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